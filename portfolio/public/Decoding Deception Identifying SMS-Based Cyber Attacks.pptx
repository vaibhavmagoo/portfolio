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  <p:sldMasterId id="2147483705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embeddedFontLst>
    <p:embeddedFont>
      <p:font typeface="Barlow" panose="020F0502020204030204" pitchFamily="2" charset="0"/>
      <p:regular r:id="rId18"/>
      <p:bold r:id="rId19"/>
      <p:italic r:id="rId20"/>
      <p:boldItalic r:id="rId21"/>
    </p:embeddedFont>
    <p:embeddedFont>
      <p:font typeface="Barlow ExtraLight" panose="020F0502020204030204" pitchFamily="2" charset="0"/>
      <p:regular r:id="rId22"/>
      <p:bold r:id="rId23"/>
      <p:italic r:id="rId24"/>
      <p:boldItalic r:id="rId25"/>
    </p:embeddedFont>
    <p:embeddedFont>
      <p:font typeface="Barlow Light" panose="020F0502020204030204" pitchFamily="2" charset="0"/>
      <p:regular r:id="rId26"/>
      <p:bold r:id="rId27"/>
      <p:italic r:id="rId28"/>
      <p:boldItalic r:id="rId29"/>
    </p:embeddedFont>
    <p:embeddedFont>
      <p:font typeface="Barlow Medium" panose="020F0502020204030204" pitchFamily="2" charset="0"/>
      <p:regular r:id="rId30"/>
      <p:bold r:id="rId31"/>
      <p:italic r:id="rId32"/>
      <p:boldItalic r:id="rId33"/>
    </p:embeddedFont>
    <p:embeddedFont>
      <p:font typeface="Hepta Slab" panose="020B0604020202020204" charset="0"/>
      <p:regular r:id="rId34"/>
      <p:bold r:id="rId35"/>
    </p:embeddedFont>
    <p:embeddedFont>
      <p:font typeface="Hepta Slab Light" panose="020B0604020202020204" charset="0"/>
      <p:regular r:id="rId36"/>
      <p:bold r:id="rId37"/>
    </p:embeddedFont>
    <p:embeddedFont>
      <p:font typeface="Hepta Slab Medium" panose="020B0604020202020204" charset="0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576" autoAdjust="0"/>
  </p:normalViewPr>
  <p:slideViewPr>
    <p:cSldViewPr snapToGrid="0">
      <p:cViewPr varScale="1">
        <p:scale>
          <a:sx n="116" d="100"/>
          <a:sy n="116" d="100"/>
        </p:scale>
        <p:origin x="408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52fe07b3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52fe07b3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4b9169795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4b9169795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52fe07b343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52fe07b343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2fe07b343_0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52fe07b343_0_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52fe07b343_0_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52fe07b343_0_4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52fe07b343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52fe07b343_0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52fe07b343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52fe07b343_0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52fe07b343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52fe07b343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52fe07b343_0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52fe07b343_0_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52fe07b343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52fe07b343_0_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52fe07b343_0_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52fe07b343_0_4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52fe07b343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52fe07b343_0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52fe07b343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52fe07b343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52fe07b343_0_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52fe07b343_0_4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2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28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29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29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29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5" name="Google Shape;135;p29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2" name="Google Shape;142;p31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5" name="Google Shape;145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8" name="Google Shape;148;p31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1" name="Google Shape;151;p32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4" name="Google Shape;154;p32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2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9" name="Google Shape;159;p32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0" name="Google Shape;160;p32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4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BLANK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178" name="Google Shape;178;p35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79" name="Google Shape;179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3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secHead">
  <p:cSld name="SECTION_HEADER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>
            <a:spLocks noGrp="1"/>
          </p:cNvSpPr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6"/>
          <p:cNvSpPr txBox="1">
            <a:spLocks noGrp="1"/>
          </p:cNvSpPr>
          <p:nvPr>
            <p:ph type="body" idx="1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3" name="Google Shape;183;p36"/>
          <p:cNvSpPr txBox="1">
            <a:spLocks noGrp="1"/>
          </p:cNvSpPr>
          <p:nvPr>
            <p:ph type="subTitle" idx="2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84" name="Google Shape;184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/ Content" type="tx">
  <p:cSld name="TITLE_AND_BODY">
    <p:bg>
      <p:bgPr>
        <a:solidFill>
          <a:schemeClr val="accent4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>
            <a:spLocks noGrp="1"/>
          </p:cNvSpPr>
          <p:nvPr>
            <p:ph type="subTitle" idx="1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87" name="Google Shape;187;p37"/>
          <p:cNvSpPr txBox="1">
            <a:spLocks noGrp="1"/>
          </p:cNvSpPr>
          <p:nvPr>
            <p:ph type="body" idx="2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88" name="Google Shape;188;p37"/>
          <p:cNvSpPr txBox="1">
            <a:spLocks noGrp="1"/>
          </p:cNvSpPr>
          <p:nvPr>
            <p:ph type="subTitle" idx="3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89" name="Google Shape;189;p37"/>
          <p:cNvSpPr txBox="1">
            <a:spLocks noGrp="1"/>
          </p:cNvSpPr>
          <p:nvPr>
            <p:ph type="body" idx="4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0" name="Google Shape;190;p37"/>
          <p:cNvSpPr txBox="1">
            <a:spLocks noGrp="1"/>
          </p:cNvSpPr>
          <p:nvPr>
            <p:ph type="body" idx="5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91" name="Google Shape;191;p37"/>
          <p:cNvSpPr txBox="1">
            <a:spLocks noGrp="1"/>
          </p:cNvSpPr>
          <p:nvPr>
            <p:ph type="subTitle" idx="6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92" name="Google Shape;192;p37"/>
          <p:cNvSpPr txBox="1">
            <a:spLocks noGrp="1"/>
          </p:cNvSpPr>
          <p:nvPr>
            <p:ph type="body" idx="7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3" name="Google Shape;193;p37"/>
          <p:cNvSpPr txBox="1">
            <a:spLocks noGrp="1"/>
          </p:cNvSpPr>
          <p:nvPr>
            <p:ph type="body" idx="8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94" name="Google Shape;194;p37"/>
          <p:cNvSpPr txBox="1">
            <a:spLocks noGrp="1"/>
          </p:cNvSpPr>
          <p:nvPr>
            <p:ph type="subTitle" idx="9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95" name="Google Shape;195;p37"/>
          <p:cNvSpPr txBox="1">
            <a:spLocks noGrp="1"/>
          </p:cNvSpPr>
          <p:nvPr>
            <p:ph type="body" idx="13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6" name="Google Shape;196;p37"/>
          <p:cNvSpPr txBox="1">
            <a:spLocks noGrp="1"/>
          </p:cNvSpPr>
          <p:nvPr>
            <p:ph type="body" idx="14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97" name="Google Shape;197;p37"/>
          <p:cNvSpPr txBox="1">
            <a:spLocks noGrp="1"/>
          </p:cNvSpPr>
          <p:nvPr>
            <p:ph type="subTitle" idx="15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98" name="Google Shape;198;p37"/>
          <p:cNvSpPr txBox="1">
            <a:spLocks noGrp="1"/>
          </p:cNvSpPr>
          <p:nvPr>
            <p:ph type="body" idx="16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9" name="Google Shape;199;p37"/>
          <p:cNvSpPr txBox="1">
            <a:spLocks noGrp="1"/>
          </p:cNvSpPr>
          <p:nvPr>
            <p:ph type="body" idx="17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00" name="Google Shape;200;p37"/>
          <p:cNvSpPr txBox="1">
            <a:spLocks noGrp="1"/>
          </p:cNvSpPr>
          <p:nvPr>
            <p:ph type="subTitle" idx="18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01" name="Google Shape;201;p37"/>
          <p:cNvSpPr txBox="1">
            <a:spLocks noGrp="1"/>
          </p:cNvSpPr>
          <p:nvPr>
            <p:ph type="body" idx="19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02" name="Google Shape;202;p37"/>
          <p:cNvSpPr txBox="1">
            <a:spLocks noGrp="1"/>
          </p:cNvSpPr>
          <p:nvPr>
            <p:ph type="body" idx="20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03" name="Google Shape;203;p37"/>
          <p:cNvSpPr txBox="1">
            <a:spLocks noGrp="1"/>
          </p:cNvSpPr>
          <p:nvPr>
            <p:ph type="subTitle" idx="21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body" idx="22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05" name="Google Shape;205;p3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8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i="1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sz="700" i="1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09" name="Google Shape;209;p38"/>
          <p:cNvSpPr>
            <a:spLocks noGrp="1"/>
          </p:cNvSpPr>
          <p:nvPr>
            <p:ph type="pic" idx="2"/>
          </p:nvPr>
        </p:nvSpPr>
        <p:spPr>
          <a:xfrm>
            <a:off x="3915225" y="1631250"/>
            <a:ext cx="4441200" cy="3009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10" name="Google Shape;210;p38"/>
          <p:cNvSpPr txBox="1">
            <a:spLocks noGrp="1"/>
          </p:cNvSpPr>
          <p:nvPr>
            <p:ph type="body" idx="1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11" name="Google Shape;211;p38"/>
          <p:cNvSpPr txBox="1">
            <a:spLocks noGrp="1"/>
          </p:cNvSpPr>
          <p:nvPr>
            <p:ph type="subTitle" idx="3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12" name="Google Shape;212;p3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text">
  <p:cSld name="TITLE_AND_TWO_COLUMNS_1">
    <p:bg>
      <p:bgPr>
        <a:solidFill>
          <a:schemeClr val="dk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9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16" name="Google Shape;216;p39"/>
          <p:cNvSpPr txBox="1">
            <a:spLocks noGrp="1"/>
          </p:cNvSpPr>
          <p:nvPr>
            <p:ph type="body" idx="2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39"/>
          <p:cNvSpPr txBox="1">
            <a:spLocks noGrp="1"/>
          </p:cNvSpPr>
          <p:nvPr>
            <p:ph type="body" idx="3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3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/ Company Overview" type="titleOnly">
  <p:cSld name="TITLE_ONLY">
    <p:bg>
      <p:bgPr>
        <a:solidFill>
          <a:schemeClr val="accent4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>
            <a:spLocks noGrp="1"/>
          </p:cNvSpPr>
          <p:nvPr>
            <p:ph type="pic" idx="2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0"/>
          <p:cNvSpPr>
            <a:spLocks noGrp="1"/>
          </p:cNvSpPr>
          <p:nvPr>
            <p:ph type="pic" idx="3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0"/>
          <p:cNvSpPr>
            <a:spLocks noGrp="1"/>
          </p:cNvSpPr>
          <p:nvPr>
            <p:ph type="pic" idx="4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0"/>
          <p:cNvSpPr>
            <a:spLocks noGrp="1"/>
          </p:cNvSpPr>
          <p:nvPr>
            <p:ph type="pic" idx="5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0"/>
          <p:cNvSpPr txBox="1">
            <a:spLocks noGrp="1"/>
          </p:cNvSpPr>
          <p:nvPr>
            <p:ph type="body" idx="1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25" name="Google Shape;225;p40"/>
          <p:cNvSpPr txBox="1">
            <a:spLocks noGrp="1"/>
          </p:cNvSpPr>
          <p:nvPr>
            <p:ph type="body" idx="6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6" name="Google Shape;226;p40"/>
          <p:cNvSpPr txBox="1">
            <a:spLocks noGrp="1"/>
          </p:cNvSpPr>
          <p:nvPr>
            <p:ph type="body" idx="7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27" name="Google Shape;227;p40"/>
          <p:cNvSpPr txBox="1">
            <a:spLocks noGrp="1"/>
          </p:cNvSpPr>
          <p:nvPr>
            <p:ph type="body" idx="8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28" name="Google Shape;228;p40"/>
          <p:cNvSpPr txBox="1">
            <a:spLocks noGrp="1"/>
          </p:cNvSpPr>
          <p:nvPr>
            <p:ph type="body" idx="9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29" name="Google Shape;229;p40"/>
          <p:cNvSpPr txBox="1">
            <a:spLocks noGrp="1"/>
          </p:cNvSpPr>
          <p:nvPr>
            <p:ph type="body" idx="13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0" name="Google Shape;230;p40"/>
          <p:cNvSpPr txBox="1">
            <a:spLocks noGrp="1"/>
          </p:cNvSpPr>
          <p:nvPr>
            <p:ph type="body" idx="14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1" name="Google Shape;231;p40"/>
          <p:cNvSpPr txBox="1">
            <a:spLocks noGrp="1"/>
          </p:cNvSpPr>
          <p:nvPr>
            <p:ph type="body" idx="15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2" name="Google Shape;232;p40"/>
          <p:cNvSpPr txBox="1">
            <a:spLocks noGrp="1"/>
          </p:cNvSpPr>
          <p:nvPr>
            <p:ph type="body" idx="16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3" name="Google Shape;233;p40"/>
          <p:cNvSpPr txBox="1">
            <a:spLocks noGrp="1"/>
          </p:cNvSpPr>
          <p:nvPr>
            <p:ph type="body" idx="17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4" name="Google Shape;234;p40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etitive Landscape">
  <p:cSld name="ONE_COLUMN_TEXT">
    <p:bg>
      <p:bgPr>
        <a:solidFill>
          <a:schemeClr val="dk1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>
            <a:spLocks noGrp="1"/>
          </p:cNvSpPr>
          <p:nvPr>
            <p:ph type="body" idx="1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7" name="Google Shape;237;p41"/>
          <p:cNvSpPr txBox="1">
            <a:spLocks noGrp="1"/>
          </p:cNvSpPr>
          <p:nvPr>
            <p:ph type="subTitle" idx="2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38" name="Google Shape;238;p4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Trends + Data">
  <p:cSld name="MAIN_POINT">
    <p:bg>
      <p:bgPr>
        <a:solidFill>
          <a:schemeClr val="dk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>
            <a:spLocks noGrp="1"/>
          </p:cNvSpPr>
          <p:nvPr>
            <p:ph type="subTitle" idx="1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41" name="Google Shape;241;p42"/>
          <p:cNvSpPr txBox="1">
            <a:spLocks noGrp="1"/>
          </p:cNvSpPr>
          <p:nvPr>
            <p:ph type="subTitle" idx="2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>
            <a:endParaRPr/>
          </a:p>
        </p:txBody>
      </p:sp>
      <p:sp>
        <p:nvSpPr>
          <p:cNvPr id="242" name="Google Shape;242;p42"/>
          <p:cNvSpPr txBox="1">
            <a:spLocks noGrp="1"/>
          </p:cNvSpPr>
          <p:nvPr>
            <p:ph type="body" idx="3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43" name="Google Shape;243;p4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WOT Analysis">
  <p:cSld name="CUSTOM_14">
    <p:bg>
      <p:bgPr>
        <a:solidFill>
          <a:schemeClr val="dk1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>
            <a:spLocks noGrp="1"/>
          </p:cNvSpPr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6" name="Google Shape;246;p43"/>
          <p:cNvSpPr txBox="1">
            <a:spLocks noGrp="1"/>
          </p:cNvSpPr>
          <p:nvPr>
            <p:ph type="title" idx="2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7" name="Google Shape;247;p43"/>
          <p:cNvSpPr txBox="1">
            <a:spLocks noGrp="1"/>
          </p:cNvSpPr>
          <p:nvPr>
            <p:ph type="title" idx="3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8" name="Google Shape;248;p43"/>
          <p:cNvSpPr txBox="1">
            <a:spLocks noGrp="1"/>
          </p:cNvSpPr>
          <p:nvPr>
            <p:ph type="title" idx="4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9" name="Google Shape;249;p43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50" name="Google Shape;250;p43"/>
          <p:cNvSpPr txBox="1">
            <a:spLocks noGrp="1"/>
          </p:cNvSpPr>
          <p:nvPr>
            <p:ph type="body" idx="5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51" name="Google Shape;251;p43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/ Thank You">
  <p:cSld name="CUSTOM_13">
    <p:bg>
      <p:bgPr>
        <a:solidFill>
          <a:schemeClr val="lt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>
            <a:spLocks noGrp="1"/>
          </p:cNvSpPr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54" name="Google Shape;254;p44"/>
          <p:cNvSpPr txBox="1">
            <a:spLocks noGrp="1"/>
          </p:cNvSpPr>
          <p:nvPr>
            <p:ph type="body" idx="1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5" name="Google Shape;255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TITLE_AND_DESCRIPTION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58" name="Google Shape;258;p45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59" name="Google Shape;259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Size / Pie Graph">
  <p:cSld name="CAPTION_ONLY">
    <p:bg>
      <p:bgPr>
        <a:solidFill>
          <a:schemeClr val="dk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46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63" name="Google Shape;263;p46"/>
          <p:cNvSpPr txBox="1">
            <a:spLocks noGrp="1"/>
          </p:cNvSpPr>
          <p:nvPr>
            <p:ph type="body" idx="2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4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46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46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name="adj1" fmla="val 8241844"/>
              <a:gd name="adj2" fmla="val 1255493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fferentiators / 4 column text">
  <p:cSld name="BIG_NUMBER">
    <p:bg>
      <p:bgPr>
        <a:solidFill>
          <a:schemeClr val="dk1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/>
          </a:p>
        </p:txBody>
      </p:sp>
      <p:sp>
        <p:nvSpPr>
          <p:cNvPr id="269" name="Google Shape;269;p47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>
              <a:solidFill>
                <a:schemeClr val="dk2"/>
              </a:solidFill>
            </a:endParaRPr>
          </a:p>
        </p:txBody>
      </p:sp>
      <p:sp>
        <p:nvSpPr>
          <p:cNvPr id="270" name="Google Shape;270;p47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>
              <a:solidFill>
                <a:schemeClr val="lt1"/>
              </a:solidFill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>
              <a:solidFill>
                <a:schemeClr val="accent5"/>
              </a:solidFill>
            </a:endParaRPr>
          </a:p>
        </p:txBody>
      </p:sp>
      <p:sp>
        <p:nvSpPr>
          <p:cNvPr id="272" name="Google Shape;272;p47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73" name="Google Shape;273;p47"/>
          <p:cNvSpPr txBox="1">
            <a:spLocks noGrp="1"/>
          </p:cNvSpPr>
          <p:nvPr>
            <p:ph type="body" idx="2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74" name="Google Shape;274;p4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blank">
  <p:cSld name="BLANK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77" name="Google Shape;277;p48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78" name="Google Shape;278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text">
  <p:cSld name="TITLE_1">
    <p:bg>
      <p:bgPr>
        <a:solidFill>
          <a:schemeClr val="dk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9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82" name="Google Shape;282;p49"/>
          <p:cNvSpPr txBox="1">
            <a:spLocks noGrp="1"/>
          </p:cNvSpPr>
          <p:nvPr>
            <p:ph type="body" idx="2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4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Background Image + Text">
  <p:cSld name="CUSTOM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50"/>
          <p:cNvSpPr txBox="1">
            <a:spLocks noGrp="1"/>
          </p:cNvSpPr>
          <p:nvPr>
            <p:ph type="body" idx="1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274300" tIns="0" rIns="274300" bIns="27430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87" name="Google Shape;287;p50"/>
          <p:cNvSpPr txBox="1">
            <a:spLocks noGrp="1"/>
          </p:cNvSpPr>
          <p:nvPr>
            <p:ph type="subTitle" idx="3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274300" tIns="274300" rIns="27430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88" name="Google Shape;288;p50"/>
          <p:cNvSpPr txBox="1">
            <a:spLocks noGrp="1"/>
          </p:cNvSpPr>
          <p:nvPr>
            <p:ph type="body" idx="4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137150" tIns="137150" rIns="137150" bIns="13715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89" name="Google Shape;289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+ Image">
  <p:cSld name="CUSTOM_1">
    <p:bg>
      <p:bgPr>
        <a:solidFill>
          <a:schemeClr val="lt2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>
            <a:spLocks noGrp="1"/>
          </p:cNvSpPr>
          <p:nvPr>
            <p:ph type="pic" idx="2"/>
          </p:nvPr>
        </p:nvSpPr>
        <p:spPr>
          <a:xfrm>
            <a:off x="5485725" y="523025"/>
            <a:ext cx="3135300" cy="409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92" name="Google Shape;292;p51"/>
          <p:cNvSpPr txBox="1">
            <a:spLocks noGrp="1"/>
          </p:cNvSpPr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93" name="Google Shape;293;p51"/>
          <p:cNvSpPr txBox="1">
            <a:spLocks noGrp="1"/>
          </p:cNvSpPr>
          <p:nvPr>
            <p:ph type="body" idx="1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4" name="Google Shape;294;p5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als + 5 Images">
  <p:cSld name="CUSTOM_2">
    <p:bg>
      <p:bgPr>
        <a:solidFill>
          <a:schemeClr val="dk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>
            <a:spLocks noGrp="1"/>
          </p:cNvSpPr>
          <p:nvPr>
            <p:ph type="body" idx="1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7" name="Google Shape;297;p52"/>
          <p:cNvSpPr txBox="1">
            <a:spLocks noGrp="1"/>
          </p:cNvSpPr>
          <p:nvPr>
            <p:ph type="body" idx="2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8" name="Google Shape;298;p52"/>
          <p:cNvSpPr txBox="1">
            <a:spLocks noGrp="1"/>
          </p:cNvSpPr>
          <p:nvPr>
            <p:ph type="body" idx="3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9" name="Google Shape;299;p52"/>
          <p:cNvSpPr txBox="1">
            <a:spLocks noGrp="1"/>
          </p:cNvSpPr>
          <p:nvPr>
            <p:ph type="body" idx="4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0" name="Google Shape;300;p52"/>
          <p:cNvSpPr txBox="1">
            <a:spLocks noGrp="1"/>
          </p:cNvSpPr>
          <p:nvPr>
            <p:ph type="body" idx="5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1" name="Google Shape;301;p52"/>
          <p:cNvSpPr txBox="1">
            <a:spLocks noGrp="1"/>
          </p:cNvSpPr>
          <p:nvPr>
            <p:ph type="body" idx="6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cxnSp>
        <p:nvCxnSpPr>
          <p:cNvPr id="302" name="Google Shape;302;p52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" name="Google Shape;303;p52"/>
          <p:cNvSpPr>
            <a:spLocks noGrp="1"/>
          </p:cNvSpPr>
          <p:nvPr>
            <p:ph type="pic" idx="7"/>
          </p:nvPr>
        </p:nvSpPr>
        <p:spPr>
          <a:xfrm>
            <a:off x="7049625" y="5230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4" name="Google Shape;304;p52"/>
          <p:cNvSpPr>
            <a:spLocks noGrp="1"/>
          </p:cNvSpPr>
          <p:nvPr>
            <p:ph type="pic" idx="8"/>
          </p:nvPr>
        </p:nvSpPr>
        <p:spPr>
          <a:xfrm>
            <a:off x="784775" y="5221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5" name="Google Shape;305;p52"/>
          <p:cNvSpPr>
            <a:spLocks noGrp="1"/>
          </p:cNvSpPr>
          <p:nvPr>
            <p:ph type="pic" idx="9"/>
          </p:nvPr>
        </p:nvSpPr>
        <p:spPr>
          <a:xfrm>
            <a:off x="2343950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6" name="Google Shape;306;p52"/>
          <p:cNvSpPr>
            <a:spLocks noGrp="1"/>
          </p:cNvSpPr>
          <p:nvPr>
            <p:ph type="pic" idx="13"/>
          </p:nvPr>
        </p:nvSpPr>
        <p:spPr>
          <a:xfrm>
            <a:off x="3915213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7" name="Google Shape;307;p52"/>
          <p:cNvSpPr>
            <a:spLocks noGrp="1"/>
          </p:cNvSpPr>
          <p:nvPr>
            <p:ph type="pic" idx="14"/>
          </p:nvPr>
        </p:nvSpPr>
        <p:spPr>
          <a:xfrm>
            <a:off x="5490975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8" name="Google Shape;308;p52"/>
          <p:cNvSpPr txBox="1">
            <a:spLocks noGrp="1"/>
          </p:cNvSpPr>
          <p:nvPr>
            <p:ph type="body" idx="15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09" name="Google Shape;309;p52"/>
          <p:cNvSpPr txBox="1">
            <a:spLocks noGrp="1"/>
          </p:cNvSpPr>
          <p:nvPr>
            <p:ph type="subTitle" idx="16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10" name="Google Shape;310;p52"/>
          <p:cNvSpPr txBox="1">
            <a:spLocks noGrp="1"/>
          </p:cNvSpPr>
          <p:nvPr>
            <p:ph type="body" idx="17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1" name="Google Shape;311;p52"/>
          <p:cNvSpPr txBox="1">
            <a:spLocks noGrp="1"/>
          </p:cNvSpPr>
          <p:nvPr>
            <p:ph type="body" idx="18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2" name="Google Shape;312;p52"/>
          <p:cNvSpPr txBox="1">
            <a:spLocks noGrp="1"/>
          </p:cNvSpPr>
          <p:nvPr>
            <p:ph type="body" idx="19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3" name="Google Shape;313;p52"/>
          <p:cNvSpPr txBox="1">
            <a:spLocks noGrp="1"/>
          </p:cNvSpPr>
          <p:nvPr>
            <p:ph type="body" idx="20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4" name="Google Shape;314;p5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egy Canvas / Line Graph">
  <p:cSld name="CUSTOM_3">
    <p:bg>
      <p:bgPr>
        <a:solidFill>
          <a:schemeClr val="dk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>
            <a:spLocks noGrp="1"/>
          </p:cNvSpPr>
          <p:nvPr>
            <p:ph type="body" idx="1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17" name="Google Shape;317;p53"/>
          <p:cNvSpPr txBox="1">
            <a:spLocks noGrp="1"/>
          </p:cNvSpPr>
          <p:nvPr>
            <p:ph type="subTitle" idx="2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18" name="Google Shape;318;p53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4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21" name="Google Shape;321;p54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322" name="Google Shape;322;p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PIs / Objectives">
  <p:cSld name="CUSTOM_5">
    <p:bg>
      <p:bgPr>
        <a:solidFill>
          <a:schemeClr val="dk1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325" name="Google Shape;325;p55"/>
          <p:cNvSpPr txBox="1">
            <a:spLocks noGrp="1"/>
          </p:cNvSpPr>
          <p:nvPr>
            <p:ph type="body" idx="1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6" name="Google Shape;326;p55"/>
          <p:cNvSpPr txBox="1">
            <a:spLocks noGrp="1"/>
          </p:cNvSpPr>
          <p:nvPr>
            <p:ph type="body" idx="2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7" name="Google Shape;327;p55"/>
          <p:cNvSpPr txBox="1">
            <a:spLocks noGrp="1"/>
          </p:cNvSpPr>
          <p:nvPr>
            <p:ph type="body" idx="3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8" name="Google Shape;328;p55"/>
          <p:cNvSpPr txBox="1">
            <a:spLocks noGrp="1"/>
          </p:cNvSpPr>
          <p:nvPr>
            <p:ph type="body" idx="4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9" name="Google Shape;329;p55"/>
          <p:cNvSpPr>
            <a:spLocks noGrp="1"/>
          </p:cNvSpPr>
          <p:nvPr>
            <p:ph type="pic" idx="5"/>
          </p:nvPr>
        </p:nvSpPr>
        <p:spPr>
          <a:xfrm>
            <a:off x="7049625" y="15881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30" name="Google Shape;330;p55"/>
          <p:cNvSpPr>
            <a:spLocks noGrp="1"/>
          </p:cNvSpPr>
          <p:nvPr>
            <p:ph type="pic" idx="6"/>
          </p:nvPr>
        </p:nvSpPr>
        <p:spPr>
          <a:xfrm>
            <a:off x="3915213" y="15886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31" name="Google Shape;331;p55"/>
          <p:cNvSpPr>
            <a:spLocks noGrp="1"/>
          </p:cNvSpPr>
          <p:nvPr>
            <p:ph type="pic" idx="7"/>
          </p:nvPr>
        </p:nvSpPr>
        <p:spPr>
          <a:xfrm>
            <a:off x="5490975" y="15886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32" name="Google Shape;332;p55"/>
          <p:cNvSpPr txBox="1">
            <a:spLocks noGrp="1"/>
          </p:cNvSpPr>
          <p:nvPr>
            <p:ph type="subTitle" idx="8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33" name="Google Shape;333;p55"/>
          <p:cNvSpPr txBox="1">
            <a:spLocks noGrp="1"/>
          </p:cNvSpPr>
          <p:nvPr>
            <p:ph type="subTitle" idx="9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34" name="Google Shape;334;p55"/>
          <p:cNvSpPr txBox="1">
            <a:spLocks noGrp="1"/>
          </p:cNvSpPr>
          <p:nvPr>
            <p:ph type="subTitle" idx="13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35" name="Google Shape;335;p55"/>
          <p:cNvSpPr txBox="1">
            <a:spLocks noGrp="1"/>
          </p:cNvSpPr>
          <p:nvPr>
            <p:ph type="body" idx="14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36" name="Google Shape;336;p55"/>
          <p:cNvSpPr txBox="1">
            <a:spLocks noGrp="1"/>
          </p:cNvSpPr>
          <p:nvPr>
            <p:ph type="body" idx="15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37" name="Google Shape;337;p55"/>
          <p:cNvSpPr txBox="1">
            <a:spLocks noGrp="1"/>
          </p:cNvSpPr>
          <p:nvPr>
            <p:ph type="body" idx="16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38" name="Google Shape;338;p55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ction Plan + 5 Images">
  <p:cSld name="CUSTOM_6">
    <p:bg>
      <p:bgPr>
        <a:solidFill>
          <a:schemeClr val="accent6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>
            <a:spLocks noGrp="1"/>
          </p:cNvSpPr>
          <p:nvPr>
            <p:ph type="body" idx="1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41" name="Google Shape;341;p56"/>
          <p:cNvSpPr txBox="1">
            <a:spLocks noGrp="1"/>
          </p:cNvSpPr>
          <p:nvPr>
            <p:ph type="body" idx="2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cxnSp>
        <p:nvCxnSpPr>
          <p:cNvPr id="342" name="Google Shape;342;p56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3" name="Google Shape;343;p56"/>
          <p:cNvSpPr>
            <a:spLocks noGrp="1"/>
          </p:cNvSpPr>
          <p:nvPr>
            <p:ph type="pic" idx="3"/>
          </p:nvPr>
        </p:nvSpPr>
        <p:spPr>
          <a:xfrm>
            <a:off x="7049625" y="5230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4" name="Google Shape;344;p56"/>
          <p:cNvSpPr>
            <a:spLocks noGrp="1"/>
          </p:cNvSpPr>
          <p:nvPr>
            <p:ph type="pic" idx="4"/>
          </p:nvPr>
        </p:nvSpPr>
        <p:spPr>
          <a:xfrm>
            <a:off x="784775" y="5221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5" name="Google Shape;345;p56"/>
          <p:cNvSpPr>
            <a:spLocks noGrp="1"/>
          </p:cNvSpPr>
          <p:nvPr>
            <p:ph type="pic" idx="5"/>
          </p:nvPr>
        </p:nvSpPr>
        <p:spPr>
          <a:xfrm>
            <a:off x="2343950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6" name="Google Shape;346;p56"/>
          <p:cNvSpPr>
            <a:spLocks noGrp="1"/>
          </p:cNvSpPr>
          <p:nvPr>
            <p:ph type="pic" idx="6"/>
          </p:nvPr>
        </p:nvSpPr>
        <p:spPr>
          <a:xfrm>
            <a:off x="3915213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7" name="Google Shape;347;p56"/>
          <p:cNvSpPr>
            <a:spLocks noGrp="1"/>
          </p:cNvSpPr>
          <p:nvPr>
            <p:ph type="pic" idx="7"/>
          </p:nvPr>
        </p:nvSpPr>
        <p:spPr>
          <a:xfrm>
            <a:off x="5490975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8" name="Google Shape;348;p56"/>
          <p:cNvSpPr txBox="1">
            <a:spLocks noGrp="1"/>
          </p:cNvSpPr>
          <p:nvPr>
            <p:ph type="body" idx="8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49" name="Google Shape;349;p56"/>
          <p:cNvSpPr txBox="1">
            <a:spLocks noGrp="1"/>
          </p:cNvSpPr>
          <p:nvPr>
            <p:ph type="subTitle" idx="9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50" name="Google Shape;350;p56"/>
          <p:cNvSpPr txBox="1">
            <a:spLocks noGrp="1"/>
          </p:cNvSpPr>
          <p:nvPr>
            <p:ph type="body" idx="13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1" name="Google Shape;351;p56"/>
          <p:cNvSpPr txBox="1">
            <a:spLocks noGrp="1"/>
          </p:cNvSpPr>
          <p:nvPr>
            <p:ph type="body" idx="14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2" name="Google Shape;352;p56"/>
          <p:cNvSpPr txBox="1">
            <a:spLocks noGrp="1"/>
          </p:cNvSpPr>
          <p:nvPr>
            <p:ph type="body" idx="15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3" name="Google Shape;353;p56"/>
          <p:cNvSpPr txBox="1">
            <a:spLocks noGrp="1"/>
          </p:cNvSpPr>
          <p:nvPr>
            <p:ph type="body" idx="16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4" name="Google Shape;354;p56"/>
          <p:cNvSpPr txBox="1">
            <a:spLocks noGrp="1"/>
          </p:cNvSpPr>
          <p:nvPr>
            <p:ph type="body" idx="17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5" name="Google Shape;355;p56"/>
          <p:cNvSpPr txBox="1">
            <a:spLocks noGrp="1"/>
          </p:cNvSpPr>
          <p:nvPr>
            <p:ph type="body" idx="18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6" name="Google Shape;356;p56"/>
          <p:cNvSpPr txBox="1">
            <a:spLocks noGrp="1"/>
          </p:cNvSpPr>
          <p:nvPr>
            <p:ph type="body" idx="19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7" name="Google Shape;357;p56"/>
          <p:cNvSpPr txBox="1">
            <a:spLocks noGrp="1"/>
          </p:cNvSpPr>
          <p:nvPr>
            <p:ph type="body" idx="20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8" name="Google Shape;358;p5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Graphic">
  <p:cSld name="CUSTOM_9">
    <p:bg>
      <p:bgPr>
        <a:solidFill>
          <a:schemeClr val="dk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7"/>
          <p:cNvSpPr txBox="1">
            <a:spLocks noGrp="1"/>
          </p:cNvSpPr>
          <p:nvPr>
            <p:ph type="body" idx="1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61" name="Google Shape;361;p57"/>
          <p:cNvSpPr txBox="1">
            <a:spLocks noGrp="1"/>
          </p:cNvSpPr>
          <p:nvPr>
            <p:ph type="body" idx="2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marL="914400" lvl="1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marL="1371600" lvl="2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marL="1828800" lvl="3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marL="2286000" lvl="4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marL="2743200" lvl="5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marL="3200400" lvl="6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marL="3657600" lvl="7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marL="4114800" lvl="8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62" name="Google Shape;362;p5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enue / Graphic">
  <p:cSld name="CUSTOM_12">
    <p:bg>
      <p:bgPr>
        <a:solidFill>
          <a:schemeClr val="dk1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8"/>
          <p:cNvSpPr txBox="1">
            <a:spLocks noGrp="1"/>
          </p:cNvSpPr>
          <p:nvPr>
            <p:ph type="body" idx="1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65" name="Google Shape;365;p58"/>
          <p:cNvSpPr txBox="1">
            <a:spLocks noGrp="1"/>
          </p:cNvSpPr>
          <p:nvPr>
            <p:ph type="subTitle" idx="2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66" name="Google Shape;366;p5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9"/>
          <p:cNvSpPr txBox="1">
            <a:spLocks noGrp="1"/>
          </p:cNvSpPr>
          <p:nvPr>
            <p:ph type="title"/>
          </p:nvPr>
        </p:nvSpPr>
        <p:spPr>
          <a:xfrm>
            <a:off x="632850" y="997600"/>
            <a:ext cx="7878300" cy="17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4400" dirty="0"/>
              <a:t>Decoding Deception</a:t>
            </a:r>
            <a:endParaRPr sz="4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2900" dirty="0"/>
              <a:t>Identifying SMS-Based Cyber Attacks</a:t>
            </a:r>
            <a:endParaRPr sz="29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endParaRPr sz="29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endParaRPr sz="21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endParaRPr sz="21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 sz="2100" dirty="0"/>
              <a:t>By: </a:t>
            </a:r>
            <a:r>
              <a:rPr lang="en" sz="2100" dirty="0"/>
              <a:t>Vaibhav Magoo</a:t>
            </a:r>
            <a:endParaRPr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825" y="949225"/>
            <a:ext cx="3189450" cy="3593449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60"/>
          <p:cNvSpPr txBox="1">
            <a:spLocks noGrp="1"/>
          </p:cNvSpPr>
          <p:nvPr>
            <p:ph type="title" idx="4294967295"/>
          </p:nvPr>
        </p:nvSpPr>
        <p:spPr>
          <a:xfrm>
            <a:off x="2859625" y="283550"/>
            <a:ext cx="2793900" cy="14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Introduction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Impact of Text Attacks</a:t>
            </a:r>
            <a:br>
              <a:rPr lang="en" sz="1100"/>
            </a:b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is Phishing</a:t>
            </a:r>
            <a:br>
              <a:rPr lang="en" sz="1100"/>
            </a:br>
            <a:endParaRPr sz="1100"/>
          </a:p>
        </p:txBody>
      </p:sp>
      <p:sp>
        <p:nvSpPr>
          <p:cNvPr id="378" name="Google Shape;378;p60"/>
          <p:cNvSpPr txBox="1">
            <a:spLocks noGrp="1"/>
          </p:cNvSpPr>
          <p:nvPr>
            <p:ph type="title" idx="4294967295"/>
          </p:nvPr>
        </p:nvSpPr>
        <p:spPr>
          <a:xfrm>
            <a:off x="4895875" y="1402325"/>
            <a:ext cx="5442300" cy="15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2. Data Preparation and Analysis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Variables</a:t>
            </a:r>
            <a:endParaRPr sz="11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EDA</a:t>
            </a:r>
            <a:br>
              <a:rPr lang="en" sz="1100"/>
            </a:b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TF-IDF</a:t>
            </a:r>
            <a:br>
              <a:rPr lang="en" sz="1100"/>
            </a:br>
            <a:endParaRPr sz="1100"/>
          </a:p>
        </p:txBody>
      </p:sp>
      <p:sp>
        <p:nvSpPr>
          <p:cNvPr id="379" name="Google Shape;379;p60"/>
          <p:cNvSpPr txBox="1">
            <a:spLocks noGrp="1"/>
          </p:cNvSpPr>
          <p:nvPr>
            <p:ph type="title" idx="4294967295"/>
          </p:nvPr>
        </p:nvSpPr>
        <p:spPr>
          <a:xfrm>
            <a:off x="2301625" y="2795000"/>
            <a:ext cx="3351900" cy="1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3. Model Performance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/>
              <a:t>SVM</a:t>
            </a:r>
            <a:endParaRPr sz="11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/>
              <a:t>Neural Network</a:t>
            </a:r>
            <a:endParaRPr sz="11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100"/>
              <a:t>Comparisons</a:t>
            </a:r>
            <a:br>
              <a:rPr lang="en" sz="1200"/>
            </a:br>
            <a:endParaRPr sz="1200"/>
          </a:p>
        </p:txBody>
      </p:sp>
      <p:sp>
        <p:nvSpPr>
          <p:cNvPr id="380" name="Google Shape;380;p60"/>
          <p:cNvSpPr txBox="1">
            <a:spLocks noGrp="1"/>
          </p:cNvSpPr>
          <p:nvPr>
            <p:ph type="title" idx="4294967295"/>
          </p:nvPr>
        </p:nvSpPr>
        <p:spPr>
          <a:xfrm>
            <a:off x="4846200" y="3612500"/>
            <a:ext cx="3938100" cy="13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4. Conclusion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/>
              <a:t>Optimising Possibilities</a:t>
            </a:r>
            <a:br>
              <a:rPr lang="en" sz="1100"/>
            </a:b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Business Applications and Suggestions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1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$12.5 billion in losses last year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$1,500 median to phone calls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372,000 reports of emails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61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fraud third most common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22% of all fraud reports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$1000 median loss</a:t>
            </a:r>
            <a:endParaRPr/>
          </a:p>
        </p:txBody>
      </p:sp>
      <p:sp>
        <p:nvSpPr>
          <p:cNvPr id="387" name="Google Shape;387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of Text Attacks</a:t>
            </a:r>
            <a:endParaRPr/>
          </a:p>
        </p:txBody>
      </p:sp>
      <p:sp>
        <p:nvSpPr>
          <p:cNvPr id="388" name="Google Shape;388;p61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FTC Reports</a:t>
            </a:r>
            <a:endParaRPr/>
          </a:p>
        </p:txBody>
      </p:sp>
      <p:sp>
        <p:nvSpPr>
          <p:cNvPr id="389" name="Google Shape;389;p61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Fraud Breakdown</a:t>
            </a:r>
            <a:endParaRPr/>
          </a:p>
        </p:txBody>
      </p:sp>
      <p:pic>
        <p:nvPicPr>
          <p:cNvPr id="390" name="Google Shape;39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0125"/>
            <a:ext cx="3849473" cy="210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5073" y="1170125"/>
            <a:ext cx="3597227" cy="21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61"/>
          <p:cNvSpPr txBox="1">
            <a:spLocks noGrp="1"/>
          </p:cNvSpPr>
          <p:nvPr>
            <p:ph type="subTitle" idx="9"/>
          </p:nvPr>
        </p:nvSpPr>
        <p:spPr>
          <a:xfrm>
            <a:off x="619877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Changing Atmosphere</a:t>
            </a:r>
            <a:endParaRPr/>
          </a:p>
        </p:txBody>
      </p:sp>
      <p:sp>
        <p:nvSpPr>
          <p:cNvPr id="393" name="Google Shape;393;p61"/>
          <p:cNvSpPr txBox="1">
            <a:spLocks noGrp="1"/>
          </p:cNvSpPr>
          <p:nvPr>
            <p:ph type="body" idx="6"/>
          </p:nvPr>
        </p:nvSpPr>
        <p:spPr>
          <a:xfrm>
            <a:off x="619877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losses on the rise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Scams evolving?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62" title="fishing-hooks-fishing-lines-underwater-graphic-background-wallpaper-with-catching-fish-vector-illustration_505557-421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9886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What is Phishing?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0" name="Google Shape;400;p62"/>
          <p:cNvSpPr txBox="1">
            <a:spLocks noGrp="1"/>
          </p:cNvSpPr>
          <p:nvPr>
            <p:ph type="body" idx="1"/>
          </p:nvPr>
        </p:nvSpPr>
        <p:spPr>
          <a:xfrm>
            <a:off x="65000" y="30887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Phishing is a cyber attack</a:t>
            </a: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where attackers trick people into revealing sensitive information 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(like passwords, credit card numbers, or login credentials).</a:t>
            </a:r>
            <a:b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Typically delivered via </a:t>
            </a:r>
            <a:r>
              <a:rPr lang="en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email, text message (smishing), or fake websites</a:t>
            </a: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Often uses </a:t>
            </a:r>
            <a:r>
              <a:rPr lang="en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spoofed identities</a:t>
            </a: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(e.g., posing as a bank, company, or government agency).</a:t>
            </a:r>
            <a:b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goal is to </a:t>
            </a:r>
            <a:r>
              <a:rPr lang="en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steal data or credentials</a:t>
            </a: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not always immediate money.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Scams</a:t>
            </a: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are broader schemes that involve phishing but not always 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3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Categories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Smishing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Spam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Ham</a:t>
            </a:r>
            <a:endParaRPr/>
          </a:p>
        </p:txBody>
      </p:sp>
      <p:sp>
        <p:nvSpPr>
          <p:cNvPr id="406" name="Google Shape;406;p63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Variable indicating if an email address is present in the text message</a:t>
            </a:r>
            <a:endParaRPr/>
          </a:p>
        </p:txBody>
      </p:sp>
      <p:sp>
        <p:nvSpPr>
          <p:cNvPr id="407" name="Google Shape;407;p63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variable indicating if a phone number is present in the text message</a:t>
            </a:r>
            <a:endParaRPr/>
          </a:p>
        </p:txBody>
      </p:sp>
      <p:sp>
        <p:nvSpPr>
          <p:cNvPr id="408" name="Google Shape;408;p63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</a:t>
            </a:r>
            <a:endParaRPr/>
          </a:p>
        </p:txBody>
      </p:sp>
      <p:sp>
        <p:nvSpPr>
          <p:cNvPr id="409" name="Google Shape;409;p63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variable indicating if a URL is present in the text message</a:t>
            </a:r>
            <a:endParaRPr/>
          </a:p>
        </p:txBody>
      </p:sp>
      <p:sp>
        <p:nvSpPr>
          <p:cNvPr id="410" name="Google Shape;410;p63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Variables </a:t>
            </a:r>
            <a:endParaRPr/>
          </a:p>
        </p:txBody>
      </p:sp>
      <p:sp>
        <p:nvSpPr>
          <p:cNvPr id="411" name="Google Shape;411;p63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 (DV)</a:t>
            </a:r>
            <a:endParaRPr/>
          </a:p>
        </p:txBody>
      </p:sp>
      <p:sp>
        <p:nvSpPr>
          <p:cNvPr id="412" name="Google Shape;412;p63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URL</a:t>
            </a:r>
            <a:endParaRPr/>
          </a:p>
        </p:txBody>
      </p:sp>
      <p:sp>
        <p:nvSpPr>
          <p:cNvPr id="413" name="Google Shape;413;p63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4"/>
          <p:cNvSpPr txBox="1">
            <a:spLocks noGrp="1"/>
          </p:cNvSpPr>
          <p:nvPr>
            <p:ph type="title"/>
          </p:nvPr>
        </p:nvSpPr>
        <p:spPr>
          <a:xfrm>
            <a:off x="261825" y="412400"/>
            <a:ext cx="29229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Univariate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</p:txBody>
      </p:sp>
      <p:pic>
        <p:nvPicPr>
          <p:cNvPr id="419" name="Google Shape;419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56828" y="412400"/>
            <a:ext cx="2487547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3050" y="2676425"/>
            <a:ext cx="23844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6462" y="412400"/>
            <a:ext cx="265488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81813" y="2676425"/>
            <a:ext cx="2724199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64"/>
          <p:cNvSpPr txBox="1"/>
          <p:nvPr/>
        </p:nvSpPr>
        <p:spPr>
          <a:xfrm>
            <a:off x="-81075" y="1906525"/>
            <a:ext cx="34584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Most messages in the dataset are legitimate (ham-81.1%), but a notable portion are scams.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Scam-related features like phone numbers (14.1%) and URLs (3.5%) are present in only a small fraction of messages.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Email addresses (0.3%) are almost never used in SMS, making them ineffective for fraud detection.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Even rare features like URLs and phone numbers can help flag suspicious messages when they do appear.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5"/>
          <p:cNvSpPr txBox="1">
            <a:spLocks noGrp="1"/>
          </p:cNvSpPr>
          <p:nvPr>
            <p:ph type="title"/>
          </p:nvPr>
        </p:nvSpPr>
        <p:spPr>
          <a:xfrm>
            <a:off x="289275" y="237600"/>
            <a:ext cx="25968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Bivariate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</p:txBody>
      </p:sp>
      <p:pic>
        <p:nvPicPr>
          <p:cNvPr id="429" name="Google Shape;42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4950" y="445025"/>
            <a:ext cx="5047350" cy="428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65"/>
          <p:cNvSpPr txBox="1"/>
          <p:nvPr/>
        </p:nvSpPr>
        <p:spPr>
          <a:xfrm>
            <a:off x="-73475" y="1680325"/>
            <a:ext cx="37581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Scam texts often include phone numbers or links, over 60% of smishing and spam messages had them.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 contrast, normal texts (ham) almost never contain links or phone numbers.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Email addresses were rare in all types; not a strong scam signal.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Just like a fake message saying </a:t>
            </a:r>
            <a:r>
              <a:rPr lang="en" sz="1100" i="1">
                <a:solidFill>
                  <a:schemeClr val="dk1"/>
                </a:solidFill>
              </a:rPr>
              <a:t>“Call this number to verify your account”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These patterns help our model spot suspicious texts by structure, not just wording.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TF-IDF</a:t>
            </a:r>
            <a:endParaRPr sz="3600"/>
          </a:p>
        </p:txBody>
      </p:sp>
      <p:sp>
        <p:nvSpPr>
          <p:cNvPr id="436" name="Google Shape;436;p66"/>
          <p:cNvSpPr txBox="1">
            <a:spLocks noGrp="1"/>
          </p:cNvSpPr>
          <p:nvPr>
            <p:ph type="body" idx="1"/>
          </p:nvPr>
        </p:nvSpPr>
        <p:spPr>
          <a:xfrm>
            <a:off x="98125" y="1540875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Smishing texts use trigger words like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“claim”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“urgent”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“prize”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exposing scam intent.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Ham messages feature casual, harmless terms like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“lol”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“gonna”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Spam is marked by promotional terms like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“ringtone”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“150p”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TF-IDF helped models detect deceptive patterns by highlighting class-specific language.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7" name="Google Shape;43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3200" y="755075"/>
            <a:ext cx="5144125" cy="381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7"/>
          <p:cNvSpPr txBox="1">
            <a:spLocks noGrp="1"/>
          </p:cNvSpPr>
          <p:nvPr>
            <p:ph type="title"/>
          </p:nvPr>
        </p:nvSpPr>
        <p:spPr>
          <a:xfrm>
            <a:off x="115400" y="181975"/>
            <a:ext cx="50412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Vector Machine</a:t>
            </a:r>
            <a:endParaRPr/>
          </a:p>
        </p:txBody>
      </p:sp>
      <p:sp>
        <p:nvSpPr>
          <p:cNvPr id="443" name="Google Shape;443;p67"/>
          <p:cNvSpPr txBox="1">
            <a:spLocks noGrp="1"/>
          </p:cNvSpPr>
          <p:nvPr>
            <p:ph type="body" idx="1"/>
          </p:nvPr>
        </p:nvSpPr>
        <p:spPr>
          <a:xfrm>
            <a:off x="185000" y="1341063"/>
            <a:ext cx="3633600" cy="37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Achieved 90.6% accuracy, with strong ham detection (F1: 0.95).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Smishing precision is 84.8%, but recall is lower (66.1%), some scams are missed.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PCA plot shows ham is well separated, while smishing overlaps with ham and spam.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Highlights how fraudsters mimic normal texts, making detection challenging.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67"/>
          <p:cNvSpPr txBox="1"/>
          <p:nvPr/>
        </p:nvSpPr>
        <p:spPr>
          <a:xfrm>
            <a:off x="4774775" y="-202025"/>
            <a:ext cx="44352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          </a:t>
            </a:r>
            <a:endParaRPr sz="1100" b="1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br>
              <a:rPr lang="en" sz="1100" b="1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100" b="1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Precision    Recall        F1</a:t>
            </a:r>
            <a:endParaRPr sz="1100" b="1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Class: ham      0.9278049 0.9824380 0.9543402</a:t>
            </a:r>
            <a:endParaRPr sz="1100" b="1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Class: smishing 0.8484848 0.6614173 0.7433628</a:t>
            </a:r>
            <a:endParaRPr sz="1100" b="1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Class: spam     0.6617647 0.4639175 0.5454545</a:t>
            </a:r>
            <a:endParaRPr sz="1100" b="1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00">
              <a:solidFill>
                <a:schemeClr val="lt1"/>
              </a:solidFill>
            </a:endParaRPr>
          </a:p>
        </p:txBody>
      </p:sp>
      <p:pic>
        <p:nvPicPr>
          <p:cNvPr id="445" name="Google Shape;44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700" y="1500850"/>
            <a:ext cx="4795022" cy="341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8"/>
          <p:cNvSpPr txBox="1">
            <a:spLocks noGrp="1"/>
          </p:cNvSpPr>
          <p:nvPr>
            <p:ph type="title"/>
          </p:nvPr>
        </p:nvSpPr>
        <p:spPr>
          <a:xfrm>
            <a:off x="664450" y="140525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</a:t>
            </a:r>
            <a:endParaRPr/>
          </a:p>
        </p:txBody>
      </p:sp>
      <p:sp>
        <p:nvSpPr>
          <p:cNvPr id="451" name="Google Shape;451;p68"/>
          <p:cNvSpPr txBox="1">
            <a:spLocks noGrp="1"/>
          </p:cNvSpPr>
          <p:nvPr>
            <p:ph type="body" idx="1"/>
          </p:nvPr>
        </p:nvSpPr>
        <p:spPr>
          <a:xfrm>
            <a:off x="125325" y="806800"/>
            <a:ext cx="4328400" cy="40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Neural networks are effective at learning complex scam cues hidden in everyday messages.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Achieved 92.0% accuracy, indicating strong potential for real-world fraud filtering.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Smishing recall: 88.9% ,  the model successfully detects most scam messages.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High F1 (80.4%) for smishing means it balances scam detection with minimal false alarms.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Misclassifications mostly occurred with spam, showing scammers may mimic promotional tone.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Smishing emerged as the most targeted fraud tactic based on frequency and detection.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Results show fraudsters often exploit SMS language patterns to bypass traditional filters.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2" name="Google Shape;45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175" y="1301375"/>
            <a:ext cx="4328400" cy="3540058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68"/>
          <p:cNvSpPr txBox="1"/>
          <p:nvPr/>
        </p:nvSpPr>
        <p:spPr>
          <a:xfrm>
            <a:off x="4634800" y="195900"/>
            <a:ext cx="4647000" cy="9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Precision    Recall        F1</a:t>
            </a:r>
            <a:endParaRPr sz="1100" b="1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Class: ham      0.9781478 0.9710744 0.9745982</a:t>
            </a:r>
            <a:endParaRPr sz="1100" b="1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Class: smishing 0.7337662 0.8897638 0.8042705</a:t>
            </a:r>
            <a:endParaRPr sz="1100" b="1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Class: spam     0.5714286 0.4536082 0.5057471</a:t>
            </a:r>
            <a:endParaRPr sz="1000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</a:t>
            </a:r>
            <a:endParaRPr/>
          </a:p>
        </p:txBody>
      </p:sp>
      <p:sp>
        <p:nvSpPr>
          <p:cNvPr id="459" name="Google Shape;459;p69"/>
          <p:cNvSpPr txBox="1"/>
          <p:nvPr/>
        </p:nvSpPr>
        <p:spPr>
          <a:xfrm>
            <a:off x="614000" y="1420825"/>
            <a:ext cx="75936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Neural Network adapts better to new scam patterns, ideal for dynamic fraud environments.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Neural Net can handle nonlinear relationships, capturing subtle fraud signals in text.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Neural Network scales better with larger datasets and richer feature sets (like message metadata).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Neural Net had higher recall for smishing, reducing the risk of missed scam messages. 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SVM is more interpretable, making it easier to understand why a message was flagged.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SVM trains faster and requires fewer computational resources, suitable for low-power systems.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SVM may underperform in detecting complex language tricks used in sophisticated cyber frauds.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SVM performed better on spam, but struggled more with smishing misclassification.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0"/>
          <p:cNvSpPr txBox="1">
            <a:spLocks noGrp="1"/>
          </p:cNvSpPr>
          <p:nvPr>
            <p:ph type="body" idx="2"/>
          </p:nvPr>
        </p:nvSpPr>
        <p:spPr>
          <a:xfrm>
            <a:off x="3347725" y="2289425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Add more neurons or hidden layers (use keras for flexibility).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Experiment with ReLU activation or dropout layers to reduce overfitting.</a:t>
            </a:r>
            <a:endParaRPr/>
          </a:p>
        </p:txBody>
      </p:sp>
      <p:sp>
        <p:nvSpPr>
          <p:cNvPr id="465" name="Google Shape;465;p70"/>
          <p:cNvSpPr txBox="1">
            <a:spLocks noGrp="1"/>
          </p:cNvSpPr>
          <p:nvPr>
            <p:ph type="body" idx="1"/>
          </p:nvPr>
        </p:nvSpPr>
        <p:spPr>
          <a:xfrm>
            <a:off x="232975" y="2084975"/>
            <a:ext cx="2705700" cy="27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Include additional text features:</a:t>
            </a:r>
            <a:endParaRPr/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Message length, character counts, number of capital letters.</a:t>
            </a:r>
            <a:endParaRPr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Presence of suspicious keywords (e.g., “win,” “urgent”).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70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Use ROC-AUC for each class.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Perform stratified k-fold cross validation for stability.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Track training time and resource usage for deployment.</a:t>
            </a:r>
            <a:endParaRPr/>
          </a:p>
        </p:txBody>
      </p:sp>
      <p:sp>
        <p:nvSpPr>
          <p:cNvPr id="467" name="Google Shape;467;p70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Possibilities</a:t>
            </a:r>
            <a:endParaRPr/>
          </a:p>
        </p:txBody>
      </p:sp>
      <p:sp>
        <p:nvSpPr>
          <p:cNvPr id="468" name="Google Shape;468;p70"/>
          <p:cNvSpPr txBox="1">
            <a:spLocks noGrp="1"/>
          </p:cNvSpPr>
          <p:nvPr>
            <p:ph type="subTitle" idx="4"/>
          </p:nvPr>
        </p:nvSpPr>
        <p:spPr>
          <a:xfrm>
            <a:off x="483175" y="1306463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469" name="Google Shape;469;p70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 Architecture</a:t>
            </a:r>
            <a:endParaRPr/>
          </a:p>
        </p:txBody>
      </p:sp>
      <p:sp>
        <p:nvSpPr>
          <p:cNvPr id="470" name="Google Shape;470;p70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7057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Evaluation Enhancements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1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Use case: Automatically flag and filter smishing and spam messages in telecom or banking.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Value: Helps prevent identity theft, scams, and financial losses.</a:t>
            </a:r>
            <a:endParaRPr/>
          </a:p>
        </p:txBody>
      </p:sp>
      <p:sp>
        <p:nvSpPr>
          <p:cNvPr id="476" name="Google Shape;476;p71"/>
          <p:cNvSpPr txBox="1">
            <a:spLocks noGrp="1"/>
          </p:cNvSpPr>
          <p:nvPr>
            <p:ph type="body" idx="2"/>
          </p:nvPr>
        </p:nvSpPr>
        <p:spPr>
          <a:xfrm>
            <a:off x="45176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 models into: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Email/SMS gateways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CRM systems for fraud alerts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Mobile apps for real-time message scoring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71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Fraud Prevention</a:t>
            </a:r>
            <a:endParaRPr/>
          </a:p>
        </p:txBody>
      </p:sp>
      <p:sp>
        <p:nvSpPr>
          <p:cNvPr id="478" name="Google Shape;478;p71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6001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Applications and Suggestions</a:t>
            </a:r>
            <a:endParaRPr/>
          </a:p>
        </p:txBody>
      </p:sp>
      <p:sp>
        <p:nvSpPr>
          <p:cNvPr id="479" name="Google Shape;479;p71"/>
          <p:cNvSpPr txBox="1">
            <a:spLocks noGrp="1"/>
          </p:cNvSpPr>
          <p:nvPr>
            <p:ph type="subTitle" idx="4"/>
          </p:nvPr>
        </p:nvSpPr>
        <p:spPr>
          <a:xfrm>
            <a:off x="4517600" y="1336150"/>
            <a:ext cx="40959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 with Enterprise Tools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2"/>
          <p:cNvSpPr txBox="1"/>
          <p:nvPr/>
        </p:nvSpPr>
        <p:spPr>
          <a:xfrm>
            <a:off x="1495650" y="1270925"/>
            <a:ext cx="6152700" cy="25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Q and A</a:t>
            </a:r>
            <a:endParaRPr sz="104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963</Words>
  <Application>Microsoft Office PowerPoint</Application>
  <PresentationFormat>On-screen Show (16:9)</PresentationFormat>
  <Paragraphs>152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Barlow Medium</vt:lpstr>
      <vt:lpstr>Barlow</vt:lpstr>
      <vt:lpstr>Arial</vt:lpstr>
      <vt:lpstr>Hepta Slab Medium</vt:lpstr>
      <vt:lpstr>Hepta Slab Light</vt:lpstr>
      <vt:lpstr>Barlow Light</vt:lpstr>
      <vt:lpstr>Barlow ExtraLight</vt:lpstr>
      <vt:lpstr>Courier New</vt:lpstr>
      <vt:lpstr>Hepta Slab</vt:lpstr>
      <vt:lpstr>Simple Light</vt:lpstr>
      <vt:lpstr>Strategy Plan</vt:lpstr>
      <vt:lpstr>Decoding Deception Identifying SMS-Based Cyber Attacks    By: Vaibhav Magoo</vt:lpstr>
      <vt:lpstr>Introduction  Impact of Text Attacks  What is Phishing </vt:lpstr>
      <vt:lpstr>Impact of Text Attacks</vt:lpstr>
      <vt:lpstr>What is Phishing?</vt:lpstr>
      <vt:lpstr>The Variables </vt:lpstr>
      <vt:lpstr>Univariate EDA</vt:lpstr>
      <vt:lpstr>Bivariate EDA</vt:lpstr>
      <vt:lpstr>TF-IDF</vt:lpstr>
      <vt:lpstr>Support Vector Machine</vt:lpstr>
      <vt:lpstr>Neural Network</vt:lpstr>
      <vt:lpstr>Model Comparison</vt:lpstr>
      <vt:lpstr>Optimization Possibilities</vt:lpstr>
      <vt:lpstr>Business Applications and Suggestions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Vaibhav Magoo</cp:lastModifiedBy>
  <cp:revision>1</cp:revision>
  <dcterms:modified xsi:type="dcterms:W3CDTF">2026-05-20T18:06:48Z</dcterms:modified>
</cp:coreProperties>
</file>